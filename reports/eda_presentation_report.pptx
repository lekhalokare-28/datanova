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97280" y="2011680"/>
            <a:ext cx="10058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16213E"/>
                </a:solidFill>
              </a:defRPr>
            </a:pPr>
            <a:r>
              <a:t>DataNova: Automated EDA Report</a:t>
            </a:r>
          </a:p>
          <a:p>
            <a:pPr>
              <a:spcBef>
                <a:spcPts val="1600"/>
              </a:spcBef>
              <a:defRPr sz="2000">
                <a:solidFill>
                  <a:srgbClr val="0066CC"/>
                </a:solidFill>
              </a:defRPr>
            </a:pPr>
            <a:r>
              <a:t>Detected Domain: Healthcare | Automated Intelligence Engine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601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6213E"/>
                </a:solidFill>
              </a:defRPr>
            </a:pPr>
            <a:r>
              <a:t>Executive / Dataset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6015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282828"/>
                </a:solidFill>
              </a:defRPr>
            </a:pPr>
            <a:r>
              <a:t>•  309 patient records covering 16 health-related variables, including demographics, lifestyle factors, and symptom scores.</a:t>
            </a:r>
          </a:p>
          <a:p>
            <a:pPr>
              <a:spcAft>
                <a:spcPts val="1400"/>
              </a:spcAft>
              <a:defRPr sz="1800">
                <a:solidFill>
                  <a:srgbClr val="282828"/>
                </a:solidFill>
              </a:defRPr>
            </a:pPr>
            <a:r>
              <a:t>•  Target variable LUNG_CANCER is categorical, enabling binary classification of disease presence.</a:t>
            </a:r>
          </a:p>
          <a:p>
            <a:pPr>
              <a:spcAft>
                <a:spcPts val="1400"/>
              </a:spcAft>
              <a:defRPr sz="1800">
                <a:solidFill>
                  <a:srgbClr val="282828"/>
                </a:solidFill>
              </a:defRPr>
            </a:pPr>
            <a:r>
              <a:t>•  Age spans 21-87 years, with a median around mid-50s, reflecting a typical adult patient cohort.</a:t>
            </a:r>
          </a:p>
          <a:p>
            <a:pPr>
              <a:spcAft>
                <a:spcPts val="1400"/>
              </a:spcAft>
              <a:defRPr sz="1800">
                <a:solidFill>
                  <a:srgbClr val="282828"/>
                </a:solidFill>
              </a:defRPr>
            </a:pPr>
            <a:r>
              <a:t>•  Gender is the sole non-numeric feature; all other predictors are integer-encoded symptom/behavior scores.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601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6213E"/>
                </a:solidFill>
              </a:defRPr>
            </a:pPr>
            <a:r>
              <a:t>Data Quality &amp; Profiling Insights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6015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282828"/>
                </a:solidFill>
              </a:defRPr>
            </a:pPr>
            <a:r>
              <a:t>•  No missing values or dtype mismatches - the dataset is clean and ready for modeling.</a:t>
            </a:r>
          </a:p>
          <a:p>
            <a:pPr>
              <a:spcAft>
                <a:spcPts val="1400"/>
              </a:spcAft>
              <a:defRPr sz="1800">
                <a:solidFill>
                  <a:srgbClr val="282828"/>
                </a:solidFill>
              </a:defRPr>
            </a:pPr>
            <a:r>
              <a:t>•  Age outliers (21 y, 38 y) fall below the calculated lower bound (39 y) but are clinically plausible; consider capping or flagging.</a:t>
            </a:r>
          </a:p>
          <a:p>
            <a:pPr>
              <a:spcAft>
                <a:spcPts val="1400"/>
              </a:spcAft>
              <a:defRPr sz="1800">
                <a:solidFill>
                  <a:srgbClr val="282828"/>
                </a:solidFill>
              </a:defRPr>
            </a:pPr>
            <a:r>
              <a:t>•  All symptom and exposure columns are integer-scaled, likely on a uniform rating (e.g., 0-1 or 0-5), simplifying preprocessing.</a:t>
            </a:r>
          </a:p>
          <a:p>
            <a:pPr>
              <a:spcAft>
                <a:spcPts val="1400"/>
              </a:spcAft>
              <a:defRPr sz="1800">
                <a:solidFill>
                  <a:srgbClr val="282828"/>
                </a:solidFill>
              </a:defRPr>
            </a:pPr>
            <a:r>
              <a:t>•  Column names contain trailing spaces (e.g., "FATIGUE ", "ALLERGY "); trim whitespace to avoid feature-engineer errors.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3601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6213E"/>
                </a:solidFill>
              </a:defRPr>
            </a:pPr>
            <a:r>
              <a:t>Strategic / Operational Takeaways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6015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282828"/>
                </a:solidFill>
              </a:defRPr>
            </a:pPr>
            <a:r>
              <a:t>•  Immediate next step: encode GENDER and LUNG_CANCER (e.g., one-hot or label encoding) and standardize numeric features for model stability.</a:t>
            </a:r>
          </a:p>
          <a:p>
            <a:pPr>
              <a:spcAft>
                <a:spcPts val="1400"/>
              </a:spcAft>
              <a:defRPr sz="1800">
                <a:solidFill>
                  <a:srgbClr val="282828"/>
                </a:solidFill>
              </a:defRPr>
            </a:pPr>
            <a:r>
              <a:t>•  Evaluate feature importance; symptoms such as YELLOW_FINGERS, WHEEZING, and SHORTNESS OF BREATH are strong clinical indicators for lung cancer risk.</a:t>
            </a:r>
          </a:p>
          <a:p>
            <a:pPr>
              <a:spcAft>
                <a:spcPts val="1400"/>
              </a:spcAft>
              <a:defRPr sz="1800">
                <a:solidFill>
                  <a:srgbClr val="282828"/>
                </a:solidFill>
              </a:defRPr>
            </a:pPr>
            <a:r>
              <a:t>•  Consider age binning or transformation to mitigate the impact of the two low-age outliers on model performance.</a:t>
            </a:r>
          </a:p>
          <a:p>
            <a:pPr>
              <a:spcAft>
                <a:spcPts val="1400"/>
              </a:spcAft>
              <a:defRPr sz="1800">
                <a:solidFill>
                  <a:srgbClr val="282828"/>
                </a:solidFill>
              </a:defRPr>
            </a:pPr>
            <a:r>
              <a:t>•  Clean column names and verify consistent scoring scales before deploying any predictive pipeline in a clinical decision-support system.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03601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6213E"/>
                </a:solidFill>
              </a:defRPr>
            </a:pPr>
            <a:r>
              <a:t>Visual Analysis (Exhibit 1)</a:t>
            </a:r>
          </a:p>
        </p:txBody>
      </p:sp>
      <p:pic>
        <p:nvPicPr>
          <p:cNvPr id="3" name="Picture 2" descr="AGE_distrib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7904" y="1463040"/>
            <a:ext cx="9144000" cy="653142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10360152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6213E"/>
                </a:solidFill>
              </a:defRPr>
            </a:pPr>
            <a:r>
              <a:t>Visual Analysis (Exhibit 2)</a:t>
            </a:r>
          </a:p>
        </p:txBody>
      </p:sp>
      <p:pic>
        <p:nvPicPr>
          <p:cNvPr id="3" name="Picture 2" descr="SMOKING_by_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17904" y="1463040"/>
            <a:ext cx="9144000" cy="653142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